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473B02-8671-4EB9-A029-770C5A4C93FA}" v="318" dt="2025-12-31T03:03:23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6+ Thousand Background Uber Royalty-Free Images, Stock Photos &amp; Pictures |  Shutterstock">
            <a:extLst>
              <a:ext uri="{FF2B5EF4-FFF2-40B4-BE49-F238E27FC236}">
                <a16:creationId xmlns:a16="http://schemas.microsoft.com/office/drawing/2014/main" id="{4F8E6084-D785-6048-014C-16E460B30D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3157" r="5697" b="7497"/>
          <a:stretch>
            <a:fillRect/>
          </a:stretch>
        </p:blipFill>
        <p:spPr>
          <a:xfrm>
            <a:off x="20" y="1"/>
            <a:ext cx="12187656" cy="6858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19360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Times New Roman"/>
                <a:ea typeface="+mj-lt"/>
                <a:cs typeface="+mj-lt"/>
              </a:rPr>
              <a:t>Uber Trip Analysis using Machine Learning</a:t>
            </a:r>
            <a:endParaRPr lang="en-US">
              <a:solidFill>
                <a:srgbClr val="FFFFFF"/>
              </a:solidFill>
              <a:latin typeface="Times New Roman"/>
              <a:ea typeface="STXingkai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ea typeface="+mn-lt"/>
                <a:cs typeface="+mn-lt"/>
              </a:rPr>
              <a:t>Name: Vadla Rajashekar Chary</a:t>
            </a:r>
            <a:endParaRPr lang="en-US" sz="1700" dirty="0">
              <a:solidFill>
                <a:srgbClr val="FFFFFF"/>
              </a:solidFill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ea typeface="+mn-lt"/>
                <a:cs typeface="+mn-lt"/>
              </a:rPr>
              <a:t>Domain: Data Analyst | Machine Learning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ea typeface="+mn-lt"/>
                <a:cs typeface="+mn-lt"/>
              </a:rPr>
              <a:t>Tools: Python, Google Colab, ML</a:t>
            </a:r>
            <a:endParaRPr lang="en-US" sz="1700" dirty="0">
              <a:solidFill>
                <a:srgbClr val="FFFFFF"/>
              </a:solidFill>
            </a:endParaRPr>
          </a:p>
          <a:p>
            <a:endParaRPr lang="en-US" sz="1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6CF2A2B-0745-440C-9224-C5C6A0A42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BE6D6B-84C9-4D2B-97EB-773B7369E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6+ Thousand Background Uber Royalty-Free Images, Stock Photos &amp; Pictures |  Shutterstock">
            <a:extLst>
              <a:ext uri="{FF2B5EF4-FFF2-40B4-BE49-F238E27FC236}">
                <a16:creationId xmlns:a16="http://schemas.microsoft.com/office/drawing/2014/main" id="{81B15463-5CB9-A004-A2DB-153C683208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3157" r="5697" b="7497"/>
          <a:stretch>
            <a:fillRect/>
          </a:stretch>
        </p:blipFill>
        <p:spPr>
          <a:xfrm>
            <a:off x="-1" y="10"/>
            <a:ext cx="12187677" cy="68580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1A49DB-802C-4BD6-E0DA-6A75EC0A8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37" y="352497"/>
            <a:ext cx="10104615" cy="135930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ea typeface="+mj-lt"/>
                <a:cs typeface="+mj-lt"/>
              </a:rPr>
              <a:t>Problem Statement</a:t>
            </a:r>
            <a:endParaRPr lang="en-US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56056-79E5-25F3-65FD-C5F3A4CA4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2012051"/>
            <a:ext cx="9792471" cy="411703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Analyze Uber pickup data to identify demand patterns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Predict future trip demand using Machine Learning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Help optimize driver allocation and peak-hour planning</a:t>
            </a:r>
            <a:endParaRPr lang="en-US" sz="2000">
              <a:solidFill>
                <a:srgbClr val="FFFFFF"/>
              </a:solidFill>
            </a:endParaRPr>
          </a:p>
          <a:p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217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7A5A4-52C3-AEA5-DE54-992A05890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574CA4D-17EE-B98D-8626-24380B04E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7B362F-FC61-00BE-9EDD-F58233253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6+ Thousand Background Uber Royalty-Free Images, Stock Photos &amp; Pictures |  Shutterstock">
            <a:extLst>
              <a:ext uri="{FF2B5EF4-FFF2-40B4-BE49-F238E27FC236}">
                <a16:creationId xmlns:a16="http://schemas.microsoft.com/office/drawing/2014/main" id="{F4F1E49D-9909-A385-E54B-84B5E591C7C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3157" r="5697" b="7497"/>
          <a:stretch>
            <a:fillRect/>
          </a:stretch>
        </p:blipFill>
        <p:spPr>
          <a:xfrm>
            <a:off x="-1" y="10"/>
            <a:ext cx="12187677" cy="68580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5A52A9-1B3F-4D69-93B1-DAAACCC10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37" y="352497"/>
            <a:ext cx="10104615" cy="135930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Dataset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9AC8E-CFB2-A04B-4C44-4D3FF98E6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2012051"/>
            <a:ext cx="9792471" cy="41170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solidFill>
                  <a:srgbClr val="FFFFFF"/>
                </a:solidFill>
                <a:ea typeface="+mn-lt"/>
                <a:cs typeface="+mn-lt"/>
              </a:rPr>
              <a:t>Dataset Source:</a:t>
            </a:r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        FiveThirtyEight / Kaggle (NYC TLC FOIL Data)</a:t>
            </a:r>
            <a:endParaRPr lang="en-US"/>
          </a:p>
          <a:p>
            <a:r>
              <a:rPr lang="en-US" sz="2000" b="1">
                <a:solidFill>
                  <a:srgbClr val="FFFFFF"/>
                </a:solidFill>
                <a:ea typeface="+mn-lt"/>
                <a:cs typeface="+mn-lt"/>
              </a:rPr>
              <a:t>Data Includes:</a:t>
            </a:r>
            <a:endParaRPr lang="en-US" b="1"/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       Date &amp; Time of pickup</a:t>
            </a:r>
            <a:endParaRPr lang="en-US"/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       Latitude &amp; Longitude</a:t>
            </a:r>
            <a:endParaRPr lang="en-US"/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       Base (Uber service code)</a:t>
            </a:r>
            <a:endParaRPr lang="en-US"/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       Monthly data (Apr–Sep 2014)</a:t>
            </a:r>
            <a:endParaRPr lang="en-US"/>
          </a:p>
          <a:p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68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2B1539-057A-2A68-A037-C1F9FB041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034EAC4-D5B5-01FA-0A1F-D691AD00B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8F3701-4B42-8647-4F5B-2B891099E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6+ Thousand Background Uber Royalty-Free Images, Stock Photos &amp; Pictures |  Shutterstock">
            <a:extLst>
              <a:ext uri="{FF2B5EF4-FFF2-40B4-BE49-F238E27FC236}">
                <a16:creationId xmlns:a16="http://schemas.microsoft.com/office/drawing/2014/main" id="{A9CDDC85-25EA-4427-1288-2104DBF61C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3157" r="5697" b="7497"/>
          <a:stretch>
            <a:fillRect/>
          </a:stretch>
        </p:blipFill>
        <p:spPr>
          <a:xfrm>
            <a:off x="-1" y="10"/>
            <a:ext cx="12187677" cy="68580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DDDF36-C135-0C22-A963-35BACF5E7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37" y="352497"/>
            <a:ext cx="10104615" cy="135930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Tools &amp; Technologies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32D4-D4CF-4704-C076-C5938D87D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1709087"/>
            <a:ext cx="9792471" cy="41170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solidFill>
                  <a:srgbClr val="FFFFFF"/>
                </a:solidFill>
                <a:ea typeface="+mn-lt"/>
                <a:cs typeface="+mn-lt"/>
              </a:rPr>
              <a:t>Languages:</a:t>
            </a:r>
            <a:endParaRPr lang="en-US"/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       Python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000" b="1">
                <a:solidFill>
                  <a:srgbClr val="FFFFFF"/>
                </a:solidFill>
                <a:ea typeface="+mn-lt"/>
                <a:cs typeface="+mn-lt"/>
              </a:rPr>
              <a:t>Libraries:</a:t>
            </a:r>
            <a:endParaRPr lang="en-US"/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       Pandas, NumPy</a:t>
            </a:r>
            <a:endParaRPr lang="en-US"/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       Matplotlib, Seaborn</a:t>
            </a:r>
            <a:endParaRPr lang="en-US"/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       Scikit-learn, XGBoost</a:t>
            </a:r>
            <a:endParaRPr lang="en-US"/>
          </a:p>
          <a:p>
            <a:r>
              <a:rPr lang="en-US" sz="2000" b="1">
                <a:solidFill>
                  <a:srgbClr val="FFFFFF"/>
                </a:solidFill>
                <a:ea typeface="+mn-lt"/>
                <a:cs typeface="+mn-lt"/>
              </a:rPr>
              <a:t>Platform:</a:t>
            </a:r>
            <a:endParaRPr lang="en-US"/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      Google Colab</a:t>
            </a:r>
            <a:endParaRPr lang="en-US"/>
          </a:p>
          <a:p>
            <a:endParaRPr lang="en-US" sz="2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296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DA505-A6DE-E880-6182-4E359D578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625959B-B338-FE41-5FBB-3897C9596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9E8617-7861-96BD-FBB8-84843D131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6+ Thousand Background Uber Royalty-Free Images, Stock Photos &amp; Pictures |  Shutterstock">
            <a:extLst>
              <a:ext uri="{FF2B5EF4-FFF2-40B4-BE49-F238E27FC236}">
                <a16:creationId xmlns:a16="http://schemas.microsoft.com/office/drawing/2014/main" id="{924825D6-2957-3BA2-8961-931D516A4F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3157" r="5697" b="7497"/>
          <a:stretch>
            <a:fillRect/>
          </a:stretch>
        </p:blipFill>
        <p:spPr>
          <a:xfrm>
            <a:off x="-1" y="10"/>
            <a:ext cx="12187677" cy="68580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33E08B-3392-6CE1-DCF5-AC3B77CE5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37" y="352497"/>
            <a:ext cx="10104615" cy="135930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Data Preprocessing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34B90-6D17-AF27-63B0-0F6794CEC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2220818"/>
            <a:ext cx="9792471" cy="39082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Merged multiple monthly CSV files</a:t>
            </a:r>
            <a:endParaRPr lang="en-US"/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Converted Date/Time to datetime format</a:t>
            </a:r>
            <a:endParaRPr lang="en-US"/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Sorted data chronologically</a:t>
            </a:r>
            <a:endParaRPr lang="en-US"/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Resampled data to hourly trip counts</a:t>
            </a:r>
            <a:endParaRPr lang="en-US"/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331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36E58-A14B-5FDC-C707-CC6821FA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D29865-B017-AFDC-FB50-0D5C6DBA6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E951A2-9864-DD15-89CC-A6FE57863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6+ Thousand Background Uber Royalty-Free Images, Stock Photos &amp; Pictures |  Shutterstock">
            <a:extLst>
              <a:ext uri="{FF2B5EF4-FFF2-40B4-BE49-F238E27FC236}">
                <a16:creationId xmlns:a16="http://schemas.microsoft.com/office/drawing/2014/main" id="{2CCEF519-98A7-7D21-60E9-E1E28FA46D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3157" r="5697" b="7497"/>
          <a:stretch>
            <a:fillRect/>
          </a:stretch>
        </p:blipFill>
        <p:spPr>
          <a:xfrm>
            <a:off x="-1" y="10"/>
            <a:ext cx="12187677" cy="68580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C9CCB7-0CE6-EC16-DDF6-905EF9C34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832" y="352497"/>
            <a:ext cx="10323820" cy="11400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Exploratory Data Analysis (EDA)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C7CEE-37F3-566C-DE53-44D1B5762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647" y="1333559"/>
            <a:ext cx="10210005" cy="47955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Trips Over Time</a:t>
            </a:r>
            <a:endParaRPr lang="en-US">
              <a:solidFill>
                <a:srgbClr val="000000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b="1"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C0AF59-61D1-E0E9-ED53-2310C2AC2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452" y="1719319"/>
            <a:ext cx="9686795" cy="487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247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33B6A2-06FA-012D-781E-49A7BB5BE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0B5BF44-E308-FCDC-3ADB-DE7936D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307D6F-E0D8-F1D5-A48B-2AA8381F5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6+ Thousand Background Uber Royalty-Free Images, Stock Photos &amp; Pictures |  Shutterstock">
            <a:extLst>
              <a:ext uri="{FF2B5EF4-FFF2-40B4-BE49-F238E27FC236}">
                <a16:creationId xmlns:a16="http://schemas.microsoft.com/office/drawing/2014/main" id="{25F95ABD-33E6-16DF-5853-5CF55A2057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3157" r="5697" b="7497"/>
          <a:stretch>
            <a:fillRect/>
          </a:stretch>
        </p:blipFill>
        <p:spPr>
          <a:xfrm>
            <a:off x="-1" y="10"/>
            <a:ext cx="12187677" cy="68580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633B47-1B64-B09E-2E37-377D62A32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832" y="352497"/>
            <a:ext cx="10323820" cy="1140098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Trips by Hour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4B2D0-8F70-F737-CDE8-2231EEDE2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647" y="1333559"/>
            <a:ext cx="10210005" cy="47955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b="1"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B4A05A-C477-361C-2F36-59D33493A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09" y="1333100"/>
            <a:ext cx="10114876" cy="493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727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CD1FEA-B85F-F226-9DA6-81AD69529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098C840-7CE9-268B-A554-58CAB0C52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C0B570-4792-626C-EFD9-2C3707E37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6+ Thousand Background Uber Royalty-Free Images, Stock Photos &amp; Pictures |  Shutterstock">
            <a:extLst>
              <a:ext uri="{FF2B5EF4-FFF2-40B4-BE49-F238E27FC236}">
                <a16:creationId xmlns:a16="http://schemas.microsoft.com/office/drawing/2014/main" id="{485B0378-C117-C9AD-D9DF-6EFBAA57CF9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3157" r="5697" b="7497"/>
          <a:stretch>
            <a:fillRect/>
          </a:stretch>
        </p:blipFill>
        <p:spPr>
          <a:xfrm>
            <a:off x="-1" y="10"/>
            <a:ext cx="12187677" cy="68580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FB2366-5716-7CA4-E01B-8C01AE2CE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37" y="352497"/>
            <a:ext cx="10104615" cy="135930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Feature Engineering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AFE84-619A-978C-3DA7-7E7BCA1AD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2220818"/>
            <a:ext cx="9792471" cy="39082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Techniques Used: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       Created lag features (previous 24 hours)</a:t>
            </a:r>
            <a:endParaRPr lang="en-US"/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       Converted time series into ML-ready format</a:t>
            </a:r>
            <a:endParaRPr lang="en-US"/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       Defined target variable: Hourly Trips</a:t>
            </a:r>
            <a:endParaRPr lang="en-US"/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864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2495AB-6442-8F9E-6DC4-8A8DC939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BACE522-F9E7-99B4-973C-8A4E128BB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75434E-8A9F-F2AB-9077-64DC4F15A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6+ Thousand Background Uber Royalty-Free Images, Stock Photos &amp; Pictures |  Shutterstock">
            <a:extLst>
              <a:ext uri="{FF2B5EF4-FFF2-40B4-BE49-F238E27FC236}">
                <a16:creationId xmlns:a16="http://schemas.microsoft.com/office/drawing/2014/main" id="{7C3A75AB-6C08-677C-2945-000BB2B2A4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3157" r="5697" b="7497"/>
          <a:stretch>
            <a:fillRect/>
          </a:stretch>
        </p:blipFill>
        <p:spPr>
          <a:xfrm>
            <a:off x="-1" y="10"/>
            <a:ext cx="12187677" cy="68580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5AB9EC-0BD8-CA73-0A10-5FDBB1CD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37" y="352497"/>
            <a:ext cx="10104615" cy="135930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Machine Learning Models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750BE-1257-114B-B8A4-B5B3200A5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1855476"/>
            <a:ext cx="9792471" cy="4273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dirty="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XGBoost Regressor</a:t>
            </a:r>
            <a:endParaRPr lang="en-US"/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Random Forest Regressor</a:t>
            </a:r>
            <a:endParaRPr lang="en-US"/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Gradient Boosting Regressor</a:t>
            </a:r>
            <a:endParaRPr lang="en-US"/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Ensemble Model</a:t>
            </a:r>
            <a:endParaRPr lang="en-US"/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797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6EDBD9-E0D4-5805-0FB5-D7E1D9BAB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5C2106B-2F6E-4B40-452C-A9EE76EF8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4E4DAB-3E1A-8E10-289B-448F20084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6+ Thousand Background Uber Royalty-Free Images, Stock Photos &amp; Pictures |  Shutterstock">
            <a:extLst>
              <a:ext uri="{FF2B5EF4-FFF2-40B4-BE49-F238E27FC236}">
                <a16:creationId xmlns:a16="http://schemas.microsoft.com/office/drawing/2014/main" id="{904A761D-66FC-4348-6C02-1F668AA114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3157" r="5697" b="7497"/>
          <a:stretch>
            <a:fillRect/>
          </a:stretch>
        </p:blipFill>
        <p:spPr>
          <a:xfrm>
            <a:off x="-1" y="10"/>
            <a:ext cx="12187677" cy="68580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F60F45-BB9E-05A6-7FE7-87A366D3B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37" y="352497"/>
            <a:ext cx="10104615" cy="135930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Model Evaluation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464B5-7A14-7D90-D944-7C280EC9C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1855476"/>
            <a:ext cx="9792471" cy="4273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dirty="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Evaluation Metric: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      Mean Absolute Percentage Error (MAPE)</a:t>
            </a:r>
            <a:endParaRPr lang="en-US"/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Results:</a:t>
            </a:r>
            <a:endParaRPr lang="en-US"/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      XGBoost → Best performance</a:t>
            </a:r>
            <a:endParaRPr lang="en-US"/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      Ensemble → Stable predictions</a:t>
            </a:r>
            <a:endParaRPr lang="en-US"/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090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8D447-7B40-3F53-C6E8-998A1564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0CC475D-C70C-1EA5-F27A-E1F061D99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DE4C3A-5EBB-8105-A7F1-2C23B4F4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6+ Thousand Background Uber Royalty-Free Images, Stock Photos &amp; Pictures |  Shutterstock">
            <a:extLst>
              <a:ext uri="{FF2B5EF4-FFF2-40B4-BE49-F238E27FC236}">
                <a16:creationId xmlns:a16="http://schemas.microsoft.com/office/drawing/2014/main" id="{7582A5A8-4299-901D-D004-D108A67665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3157" r="5697" b="7497"/>
          <a:stretch>
            <a:fillRect/>
          </a:stretch>
        </p:blipFill>
        <p:spPr>
          <a:xfrm>
            <a:off x="-1" y="10"/>
            <a:ext cx="12187677" cy="68580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E67860-9EA4-F5F6-9838-D08F9B141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832" y="352497"/>
            <a:ext cx="10323820" cy="11400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cs typeface="Times New Roman"/>
              </a:rPr>
              <a:t>Visualization – Actual vs Predicted</a:t>
            </a:r>
            <a:endParaRPr lang="en-US"/>
          </a:p>
          <a:p>
            <a:endParaRPr lang="en-US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D27BB-3430-67DF-23CC-AD6589841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647" y="1333559"/>
            <a:ext cx="10210005" cy="47955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b="1"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6210F4-E6EF-94D2-6190-CB2547509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38" y="1103456"/>
            <a:ext cx="10081649" cy="525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355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877E2E-7B6F-AE2C-DFAB-3B8B094E0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F7A7B55-58D1-8E4C-1067-8B901116E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BA8F86-4EA3-545E-9945-88E8B9B38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6+ Thousand Background Uber Royalty-Free Images, Stock Photos &amp; Pictures |  Shutterstock">
            <a:extLst>
              <a:ext uri="{FF2B5EF4-FFF2-40B4-BE49-F238E27FC236}">
                <a16:creationId xmlns:a16="http://schemas.microsoft.com/office/drawing/2014/main" id="{A76B9110-7351-A5BD-1768-EB1F36C664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3157" r="5697" b="7497"/>
          <a:stretch>
            <a:fillRect/>
          </a:stretch>
        </p:blipFill>
        <p:spPr>
          <a:xfrm>
            <a:off x="-1" y="10"/>
            <a:ext cx="12187677" cy="68580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35C10D-D277-EB8F-A045-CF4410D90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37" y="352497"/>
            <a:ext cx="10104615" cy="135930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D65F8-5C78-D7D4-4492-6C91EF3C8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1855476"/>
            <a:ext cx="9792471" cy="4273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dirty="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Successfully analyzed large-scale Uber trip data</a:t>
            </a:r>
            <a:endParaRPr lang="en-US"/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Built accurate demand forecasting models</a:t>
            </a:r>
            <a:endParaRPr lang="en-US"/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Project demonstrates real-world data analytics skills</a:t>
            </a:r>
            <a:endParaRPr lang="en-US"/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674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AFE81-36A5-C0FF-843C-FC6AB46C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D9CE849-B30F-BAB0-94E2-FC1B4C5BB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DA9DEF-46A9-5A97-6F5D-7B86BFBD9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6+ Thousand Background Uber Royalty-Free Images, Stock Photos &amp; Pictures |  Shutterstock">
            <a:extLst>
              <a:ext uri="{FF2B5EF4-FFF2-40B4-BE49-F238E27FC236}">
                <a16:creationId xmlns:a16="http://schemas.microsoft.com/office/drawing/2014/main" id="{1DC1FD29-7A2E-F15C-4132-19FDE6F906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3157" r="5697" b="7497"/>
          <a:stretch>
            <a:fillRect/>
          </a:stretch>
        </p:blipFill>
        <p:spPr>
          <a:xfrm>
            <a:off x="-1" y="10"/>
            <a:ext cx="12187677" cy="68580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BEC69E-1929-8090-83BA-897384970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37" y="352497"/>
            <a:ext cx="10104615" cy="135930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Future Enhancements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6802B-249D-AA52-E547-3CB5C0541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1855476"/>
            <a:ext cx="9792471" cy="4273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dirty="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Include</a:t>
            </a:r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 weather &amp; holiday data</a:t>
            </a:r>
            <a:endParaRPr lang="en-US" dirty="0">
              <a:ea typeface="+mn-lt"/>
              <a:cs typeface="+mn-lt"/>
            </a:endParaRPr>
          </a:p>
          <a:p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Use deep learning (LSTM)</a:t>
            </a:r>
            <a:endParaRPr lang="en-US" dirty="0"/>
          </a:p>
          <a:p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Real-time demand forecasting dashboard</a:t>
            </a:r>
            <a:endParaRPr lang="en-US" dirty="0"/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452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09751A-19BB-88AA-E5F8-87BD69FA5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257AC06-1B75-5052-8749-450D579B1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4C4467-04B1-8485-9233-E21FC2349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6+ Thousand Background Uber Royalty-Free Images, Stock Photos &amp; Pictures |  Shutterstock">
            <a:extLst>
              <a:ext uri="{FF2B5EF4-FFF2-40B4-BE49-F238E27FC236}">
                <a16:creationId xmlns:a16="http://schemas.microsoft.com/office/drawing/2014/main" id="{C9379909-FD1A-7076-D012-841D9332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3157" r="5697" b="7497"/>
          <a:stretch>
            <a:fillRect/>
          </a:stretch>
        </p:blipFill>
        <p:spPr>
          <a:xfrm>
            <a:off x="-1" y="10"/>
            <a:ext cx="12187677" cy="68580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5F5453-C1CE-A59A-3E37-91E45DFE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9461" y="1511153"/>
            <a:ext cx="6451191" cy="341566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Thank You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0933E-96CA-5BE1-4E85-9DE1655C7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1855476"/>
            <a:ext cx="9792471" cy="427361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 dirty="0">
              <a:solidFill>
                <a:srgbClr val="FFFFFF"/>
              </a:solidFill>
              <a:ea typeface="+mn-lt"/>
              <a:cs typeface="+mn-lt"/>
            </a:endParaRPr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260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Uber Trip Analysis using Machine Learning</vt:lpstr>
      <vt:lpstr>Problem Statement</vt:lpstr>
      <vt:lpstr>Dataset Overview</vt:lpstr>
      <vt:lpstr>Tools &amp; Technologies</vt:lpstr>
      <vt:lpstr>Data Preprocessing</vt:lpstr>
      <vt:lpstr>Exploratory Data Analysis (EDA)</vt:lpstr>
      <vt:lpstr>Trips by Hour</vt:lpstr>
      <vt:lpstr>Feature Engineering</vt:lpstr>
      <vt:lpstr>Machine Learning Models</vt:lpstr>
      <vt:lpstr>Model Evaluation</vt:lpstr>
      <vt:lpstr>Visualization – Actual vs Predicted </vt:lpstr>
      <vt:lpstr>Conclusion</vt:lpstr>
      <vt:lpstr>Future Enhancements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143</cp:revision>
  <dcterms:created xsi:type="dcterms:W3CDTF">2025-12-31T02:29:52Z</dcterms:created>
  <dcterms:modified xsi:type="dcterms:W3CDTF">2025-12-31T03:04:44Z</dcterms:modified>
</cp:coreProperties>
</file>